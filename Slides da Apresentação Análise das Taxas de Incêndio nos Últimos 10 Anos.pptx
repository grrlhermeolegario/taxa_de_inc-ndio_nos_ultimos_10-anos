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51" r:id="rId4"/>
    <p:sldId id="358" r:id="rId5"/>
    <p:sldId id="352" r:id="rId6"/>
    <p:sldId id="357" r:id="rId7"/>
    <p:sldId id="356" r:id="rId8"/>
    <p:sldId id="348" r:id="rId9"/>
    <p:sldId id="355" r:id="rId10"/>
    <p:sldId id="359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6" roundtripDataSignature="AMtx7miZINGxohdSI15Xcu5c/inuvMYF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B242C-9A92-4277-842D-B6B3DD457063}">
  <a:tblStyle styleId="{A82B242C-9A92-4277-842D-B6B3DD457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76DA97-062D-4256-B02D-CCDC2C70CBB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0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0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0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6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11A4D73-89D4-2EFE-FB51-87442DB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E421ACD-6D3E-64B3-983E-451A65B84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B2E285F-6061-5901-988C-96E2E22EE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92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718EAB-94C9-F5BF-B467-0934FC42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3E85D5F-A6D6-938B-8163-25F84A2C0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E8FEA9B-4E20-B35F-5733-0CB203D1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26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592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171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553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981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  <a:defRPr sz="60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4"/>
          <p:cNvSpPr txBox="1"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3" name="Google Shape;2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3900" y="118140"/>
            <a:ext cx="1961949" cy="16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4" descr="Resultado de imagem para python wor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8545" y="0"/>
            <a:ext cx="1893455" cy="189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title"/>
          </p:nvPr>
        </p:nvSpPr>
        <p:spPr>
          <a:xfrm>
            <a:off x="465333" y="136525"/>
            <a:ext cx="10515600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5"/>
          <p:cNvSpPr txBox="1">
            <a:spLocks noGrp="1"/>
          </p:cNvSpPr>
          <p:nvPr>
            <p:ph type="body" idx="1"/>
          </p:nvPr>
        </p:nvSpPr>
        <p:spPr>
          <a:xfrm>
            <a:off x="465333" y="1411550"/>
            <a:ext cx="10888467" cy="47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5"/>
          <p:cNvSpPr txBox="1">
            <a:spLocks noGrp="1"/>
          </p:cNvSpPr>
          <p:nvPr>
            <p:ph type="dt" idx="10"/>
          </p:nvPr>
        </p:nvSpPr>
        <p:spPr>
          <a:xfrm>
            <a:off x="60122" y="6434415"/>
            <a:ext cx="10083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7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body" idx="1"/>
          </p:nvPr>
        </p:nvSpPr>
        <p:spPr>
          <a:xfrm rot="5400000">
            <a:off x="3720692" y="-1625561"/>
            <a:ext cx="4534594" cy="1107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2761" y="1642369"/>
            <a:ext cx="11070455" cy="453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927798" y="1519866"/>
            <a:ext cx="855807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pt-BR" i="1" dirty="0">
                <a:solidFill>
                  <a:srgbClr val="FF0000"/>
                </a:solidFill>
                <a:latin typeface="+mj-lt"/>
              </a:rPr>
              <a:t>Análise das Taxas de Incêndio nos Últimos 10 Anos</a:t>
            </a:r>
            <a:endParaRPr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Google Shape;22;p94">
            <a:extLst>
              <a:ext uri="{FF2B5EF4-FFF2-40B4-BE49-F238E27FC236}">
                <a16:creationId xmlns:a16="http://schemas.microsoft.com/office/drawing/2014/main" id="{B9DD900B-3010-4358-BEF8-7D5FA7B62146}"/>
              </a:ext>
            </a:extLst>
          </p:cNvPr>
          <p:cNvSpPr/>
          <p:nvPr/>
        </p:nvSpPr>
        <p:spPr>
          <a:xfrm>
            <a:off x="2547636" y="4839173"/>
            <a:ext cx="7318398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pt-BR" sz="2400" b="1" dirty="0"/>
              <a:t>Guilherme Andrade Freitas Olegario </a:t>
            </a:r>
            <a:r>
              <a:rPr lang="pt-BR" sz="2400" b="1" dirty="0" smtClean="0"/>
              <a:t> 202303467125</a:t>
            </a:r>
          </a:p>
          <a:p>
            <a:pPr algn="ctr"/>
            <a:r>
              <a:rPr lang="pt-BR" sz="2400" b="1" dirty="0"/>
              <a:t>Luís Fernando Oliveira Barros Dos Santos - 202308291191</a:t>
            </a:r>
            <a:endParaRPr lang="pt-BR" sz="2400" dirty="0"/>
          </a:p>
          <a:p>
            <a:pPr algn="ctr"/>
            <a:endParaRPr lang="pt-BR" sz="2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>
                <a:solidFill>
                  <a:srgbClr val="FF0000"/>
                </a:solidFill>
              </a:rPr>
              <a:t>Objetivo </a:t>
            </a:r>
            <a:r>
              <a:rPr lang="pt-BR" dirty="0" smtClean="0">
                <a:solidFill>
                  <a:srgbClr val="FF0000"/>
                </a:solidFill>
              </a:rPr>
              <a:t>Geral: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50794" y="1127464"/>
            <a:ext cx="11744561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pt-BR" sz="28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Entender e analisar a base de dados da taxa de incêndio para descobrir como ela é cobrada e como as informações estão organizadas, além de identificar possíveis dificuldades ou lacunas encontradas nos dados. Com isso, apresentar tudo de um jeito simples e acessível, ajudando a população a entender melhor para que serve essa taxa e como ela contribui para o trabalho do Corpo de Bombeiros.</a:t>
            </a:r>
            <a:endParaRPr sz="2800" b="1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414A2E56-5448-551C-207C-34ABE589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F045429-AA6B-CB55-C62E-4C159B34C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>
                <a:solidFill>
                  <a:srgbClr val="FF0000"/>
                </a:solidFill>
              </a:rPr>
              <a:t>Base de </a:t>
            </a:r>
            <a:r>
              <a:rPr lang="pt-BR" dirty="0" smtClean="0">
                <a:solidFill>
                  <a:srgbClr val="FF0000"/>
                </a:solidFill>
              </a:rPr>
              <a:t>Dados: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7FF3AFA-5B93-9EE5-AE87-0DDE8400D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B3F625B-7B1A-9191-C7A6-844EF37F6F73}"/>
              </a:ext>
            </a:extLst>
          </p:cNvPr>
          <p:cNvSpPr txBox="1"/>
          <p:nvPr/>
        </p:nvSpPr>
        <p:spPr>
          <a:xfrm>
            <a:off x="250793" y="1243510"/>
            <a:ext cx="11744561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pt-BR" sz="2800" b="1" dirty="0">
                <a:latin typeface="+mn-lt"/>
              </a:rPr>
              <a:t>A base de dados utilizada no trabalho reúne informações oficiais sobre a taxa de </a:t>
            </a:r>
            <a:r>
              <a:rPr lang="pt-BR" sz="2800" b="1" dirty="0" smtClean="0">
                <a:latin typeface="+mn-lt"/>
              </a:rPr>
              <a:t>incêndio no Rio de Janeiro dos últimos 10 anos, </a:t>
            </a:r>
            <a:r>
              <a:rPr lang="pt-BR" sz="2800" b="1" dirty="0">
                <a:latin typeface="+mn-lt"/>
              </a:rPr>
              <a:t>incluindo detalhes de cobrança, valores, ano de referência e categorias de imóveis. Esses dados foram extraídos do portal do Corpo de Bombeiros e servem como fonte principal para entender como a taxa funciona e analisar seu comportamento ao longo do tempo.</a:t>
            </a:r>
            <a:endParaRPr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02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De Onde Vieram os </a:t>
            </a:r>
            <a:r>
              <a:rPr lang="pt-BR" dirty="0" smtClean="0">
                <a:solidFill>
                  <a:srgbClr val="FF0000"/>
                </a:solidFill>
              </a:rPr>
              <a:t>Dados: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114300" indent="0">
              <a:buNone/>
            </a:pPr>
            <a:endParaRPr lang="pt-BR" dirty="0" smtClean="0"/>
          </a:p>
          <a:p>
            <a:pPr marL="114300" indent="0">
              <a:buNone/>
            </a:pPr>
            <a:r>
              <a:rPr lang="pt-BR" sz="3000" b="1" dirty="0" smtClean="0"/>
              <a:t>A </a:t>
            </a:r>
            <a:r>
              <a:rPr lang="pt-BR" sz="3000" b="1" dirty="0"/>
              <a:t>FUNESBOM (Fundo Especial do Corpo de Bombeiros do Estado do Rio de Janeiro) é o órgão responsável por administrar os recursos arrecadados pela taxa de incêndio. Esses recursos são usados para apoiar as atividades do Corpo de Bombeiros, como prevenção, combate a incêndios, compra de equipamentos e melhoria dos serviços prestados à população.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0248"/>
            <a:ext cx="6781800" cy="253187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1" y="229613"/>
            <a:ext cx="4808732" cy="320582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255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851D81CB-11E2-C006-D516-22B1820D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240E3F4-9A3B-BB13-6387-B806A9BF2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>
                <a:solidFill>
                  <a:srgbClr val="FF0000"/>
                </a:solidFill>
              </a:rPr>
              <a:t>Tecnologia </a:t>
            </a:r>
            <a:r>
              <a:rPr lang="pt-BR" dirty="0" smtClean="0">
                <a:solidFill>
                  <a:srgbClr val="FF0000"/>
                </a:solidFill>
              </a:rPr>
              <a:t>Usadas: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C120D90-4761-1D4A-7809-00D0CE81D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6" name="Google Shape;108;p2">
            <a:extLst>
              <a:ext uri="{FF2B5EF4-FFF2-40B4-BE49-F238E27FC236}">
                <a16:creationId xmlns:a16="http://schemas.microsoft.com/office/drawing/2014/main" id="{FB3F625B-7B1A-9191-C7A6-844EF37F6F73}"/>
              </a:ext>
            </a:extLst>
          </p:cNvPr>
          <p:cNvSpPr txBox="1"/>
          <p:nvPr/>
        </p:nvSpPr>
        <p:spPr>
          <a:xfrm>
            <a:off x="250793" y="1243510"/>
            <a:ext cx="11744561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err="1" smtClean="0">
                <a:latin typeface="+mn-lt"/>
              </a:rPr>
              <a:t>Pyton</a:t>
            </a:r>
            <a:endParaRPr lang="pt-BR" sz="2400" b="1" dirty="0" smtClean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400" b="1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smtClean="0">
                <a:latin typeface="+mn-lt"/>
              </a:rPr>
              <a:t>Google </a:t>
            </a:r>
            <a:r>
              <a:rPr lang="pt-BR" sz="2400" b="1" dirty="0" err="1" smtClean="0">
                <a:latin typeface="+mn-lt"/>
              </a:rPr>
              <a:t>Colab</a:t>
            </a:r>
            <a:endParaRPr lang="pt-BR" sz="2400" b="1" dirty="0" smtClean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400" b="1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smtClean="0">
                <a:latin typeface="+mn-lt"/>
              </a:rPr>
              <a:t>Pandas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400" b="1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err="1" smtClean="0">
                <a:latin typeface="+mn-lt"/>
              </a:rPr>
              <a:t>Numpy</a:t>
            </a:r>
            <a:endParaRPr lang="pt-BR" sz="2400" b="1" dirty="0" smtClean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400" b="1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err="1" smtClean="0">
                <a:latin typeface="+mn-lt"/>
              </a:rPr>
              <a:t>Matplotlib</a:t>
            </a:r>
            <a:endParaRPr lang="pt-BR" sz="2400" b="1" dirty="0" smtClean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400" b="1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err="1" smtClean="0">
                <a:latin typeface="+mn-lt"/>
              </a:rPr>
              <a:t>Seaborn</a:t>
            </a:r>
            <a:endParaRPr lang="pt-BR" sz="2400" b="1" dirty="0" smtClean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400" b="1" dirty="0">
              <a:latin typeface="+mn-l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400" b="1" dirty="0" err="1" smtClean="0">
                <a:latin typeface="+mn-lt"/>
              </a:rPr>
              <a:t>Chatgpt</a:t>
            </a:r>
            <a:r>
              <a:rPr lang="pt-BR" sz="2400" b="1" dirty="0" smtClean="0">
                <a:latin typeface="+mn-lt"/>
              </a:rPr>
              <a:t> (Como uso auxiliar)</a:t>
            </a:r>
            <a:r>
              <a:rPr lang="pt-BR" sz="2000" b="1" dirty="0" smtClean="0">
                <a:latin typeface="+mn-lt"/>
              </a:rPr>
              <a:t> </a:t>
            </a:r>
            <a:endParaRPr lang="pt-BR" sz="2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166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20" y="644913"/>
            <a:ext cx="7195080" cy="52294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389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76" y="700775"/>
            <a:ext cx="8695179" cy="513715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CaixaDeTexto 8"/>
          <p:cNvSpPr txBox="1"/>
          <p:nvPr/>
        </p:nvSpPr>
        <p:spPr>
          <a:xfrm>
            <a:off x="9240982" y="2299854"/>
            <a:ext cx="30618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 Variável independente (Eixo X):</a:t>
            </a:r>
            <a:r>
              <a:rPr lang="pt-BR" sz="2000" dirty="0"/>
              <a:t> valores da taxa de incêndio</a:t>
            </a:r>
            <a:br>
              <a:rPr lang="pt-BR" sz="2000" dirty="0"/>
            </a:br>
            <a:r>
              <a:rPr lang="pt-BR" sz="2000" b="1" dirty="0"/>
              <a:t>Variável dependente (Eixo Y):</a:t>
            </a:r>
            <a:r>
              <a:rPr lang="pt-BR" sz="2000" dirty="0"/>
              <a:t> frequência desses valores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520966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38" y="762964"/>
            <a:ext cx="8915408" cy="494018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CaixaDeTexto 7"/>
          <p:cNvSpPr txBox="1"/>
          <p:nvPr/>
        </p:nvSpPr>
        <p:spPr>
          <a:xfrm>
            <a:off x="9275618" y="2263561"/>
            <a:ext cx="30618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 Variável independente (Eixo X):</a:t>
            </a:r>
            <a:r>
              <a:rPr lang="pt-BR" sz="2000" dirty="0"/>
              <a:t> anos</a:t>
            </a:r>
            <a:br>
              <a:rPr lang="pt-BR" sz="2000" dirty="0"/>
            </a:br>
            <a:r>
              <a:rPr lang="pt-BR" sz="2000" b="1" dirty="0"/>
              <a:t>Variável dependente (Eixo Y):</a:t>
            </a:r>
            <a:r>
              <a:rPr lang="pt-BR" sz="2000" dirty="0"/>
              <a:t> valor médio da taxa de incêndio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38421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 smtClean="0">
                <a:solidFill>
                  <a:srgbClr val="FF0000"/>
                </a:solidFill>
              </a:rPr>
              <a:t>Conclusão: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2" name="CaixaDeTexto 1"/>
          <p:cNvSpPr txBox="1"/>
          <p:nvPr/>
        </p:nvSpPr>
        <p:spPr>
          <a:xfrm>
            <a:off x="443345" y="1288473"/>
            <a:ext cx="105375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+mn-lt"/>
              </a:rPr>
              <a:t>A análise dos dados da taxa de incêndio ajudou a entender melhor como ela funciona e qual é a sua importância para a população. Ao organizar e observar essas informações, ficou mais claro como a taxa contribui para apoiar o trabalho do Corpo de Bombeiros e para fortalecer ações de prevenção e atendimento. Esse entendimento aproxima as pessoas do tema e mostra como esses recursos fazem diferença no dia a dia da sociedade.</a:t>
            </a:r>
          </a:p>
        </p:txBody>
      </p:sp>
    </p:spTree>
    <p:extLst>
      <p:ext uri="{BB962C8B-B14F-4D97-AF65-F5344CB8AC3E}">
        <p14:creationId xmlns:p14="http://schemas.microsoft.com/office/powerpoint/2010/main" val="116392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962890" y="2547215"/>
            <a:ext cx="10515600" cy="990939"/>
          </a:xfrm>
        </p:spPr>
        <p:txBody>
          <a:bodyPr>
            <a:noAutofit/>
          </a:bodyPr>
          <a:lstStyle/>
          <a:p>
            <a:r>
              <a:rPr lang="pt-BR" sz="4800" i="1" dirty="0">
                <a:solidFill>
                  <a:srgbClr val="FF0000"/>
                </a:solidFill>
                <a:latin typeface="+mj-lt"/>
              </a:rPr>
              <a:t>Agradecemos a atenção de todos!</a:t>
            </a:r>
          </a:p>
        </p:txBody>
      </p:sp>
    </p:spTree>
    <p:extLst>
      <p:ext uri="{BB962C8B-B14F-4D97-AF65-F5344CB8AC3E}">
        <p14:creationId xmlns:p14="http://schemas.microsoft.com/office/powerpoint/2010/main" val="700206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365</Words>
  <Application>Microsoft Office PowerPoint</Application>
  <PresentationFormat>Widescreen</PresentationFormat>
  <Paragraphs>43</Paragraphs>
  <Slides>10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Calibri</vt:lpstr>
      <vt:lpstr>Times New Roman</vt:lpstr>
      <vt:lpstr>Arial</vt:lpstr>
      <vt:lpstr>Tema do Office</vt:lpstr>
      <vt:lpstr>Análise das Taxas de Incêndio nos Últimos 10 Anos</vt:lpstr>
      <vt:lpstr>Objetivo Geral:</vt:lpstr>
      <vt:lpstr>Base de Dados:</vt:lpstr>
      <vt:lpstr>De Onde Vieram os Dados:</vt:lpstr>
      <vt:lpstr>Tecnologia Usadas:</vt:lpstr>
      <vt:lpstr>Apresentação do PowerPoint</vt:lpstr>
      <vt:lpstr>Apresentação do PowerPoint</vt:lpstr>
      <vt:lpstr>Apresentação do PowerPoint</vt:lpstr>
      <vt:lpstr>Conclusão:</vt:lpstr>
      <vt:lpstr>Agradecemos a atenção de todos!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&lt;Nome do Sistema&gt;</dc:title>
  <dc:creator>simone gama</dc:creator>
  <cp:lastModifiedBy>Usuário do Windows</cp:lastModifiedBy>
  <cp:revision>17</cp:revision>
  <dcterms:created xsi:type="dcterms:W3CDTF">2020-01-31T14:11:17Z</dcterms:created>
  <dcterms:modified xsi:type="dcterms:W3CDTF">2025-11-22T14:09:17Z</dcterms:modified>
</cp:coreProperties>
</file>